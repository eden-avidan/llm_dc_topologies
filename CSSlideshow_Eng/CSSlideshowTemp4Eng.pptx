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3"/>
    <p:restoredTop sz="96327"/>
  </p:normalViewPr>
  <p:slideViewPr>
    <p:cSldViewPr snapToGrid="0" snapToObjects="1">
      <p:cViewPr>
        <p:scale>
          <a:sx n="195" d="100"/>
          <a:sy n="195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9CB8-913E-A34A-BDF2-EEC5DC097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5C5F3-8A22-7D4E-AC0D-C92496E56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726C0-3EC1-2948-BB91-BCEAB1ED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31743-6607-574A-ADC4-B864B3BD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2319B-6A50-F948-A691-C7A6E75E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08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CFDB-AB21-E14A-9DB1-FCEC2860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1094-B853-3544-9614-38A9BC42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2D3AD-178E-464C-B655-0BADECC0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14C46-5085-B84A-BC8A-5EF9D30B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C68A-5709-9247-9F53-1ECEB802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294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0576-1B08-0A42-B150-E8A9EA9A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9F74-E70E-944A-9672-BFBA715CE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08FD5-89D0-E54B-A829-A7077786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F0710-91C2-2442-AC36-9F68E4A3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BA774-DEC9-A149-B2D4-4EC09B66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967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CDCE-D284-7F47-BDA2-C03E5FB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5D251-5ED4-1A4E-A399-3B6E7A51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C1970-4807-6446-85DA-EFCDC5AA9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B77EF-DD78-B743-91B3-2497EA61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E71B8-36DB-9545-A383-F26D8A1E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42C55-C14C-2743-8C7E-02EDF20C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59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047A-2895-2A47-84C2-A6A231E6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2D7CF-91A7-4D4D-AEAB-D2C4122A9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FC47D-B76A-0148-B964-1042DFAF7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4B324-717B-7B4D-BBE9-C005C7B7E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FA572-87A8-DF48-973E-D233FBD3C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9B630-FC00-3347-9A5B-BA478217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01262-4919-DF45-859D-906A2A54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99243-203C-2240-BD82-D8727275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3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A22C-27DA-0A42-9C72-825C5646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EEBF4-0E5D-D14C-8521-D8392D11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B9DD8-72CA-8A42-955E-8143462C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CB359-40FF-944D-8507-F454DCA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887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EA304-A388-2045-B322-C8EA38E2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DB41E-FA86-5549-A913-52C849A2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B0BBF-58E4-7E41-95A9-0795FC69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402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7754-6440-1A4F-808A-87C8CAA9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77A-483B-E54F-9BA0-1A4761E32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E30C4-DC68-154A-8E50-6A21A93A3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8CF25-05C8-8345-93E5-6DF3D963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560AA-F20F-BC45-8097-5BDB3DDA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1F6F-91D1-6A4B-9A73-D703625B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594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133F-BFE0-3043-A279-D872708A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36A8A-BEE3-094A-9666-84F2380BF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FB82D-D6E1-A14F-AD8A-F7BBD2AA0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A2183-D8A5-BA4A-B418-68097EAA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5513-A0D9-184D-8D45-FD6CE89A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F0BA2-4CAC-1D48-8705-847A1A96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571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A166-E50D-2C44-8376-6FFD96F5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F2331-C43D-B64D-90EE-99F47E415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E1B8-9CB8-5941-A241-AC44B709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1D8ED-98D2-8E4F-BDB7-A5108F35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C0385-1A57-ED41-AE37-60A6D510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378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F1BC7-FE21-3C4C-9609-08042055B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A76F7-44C7-1B4D-883B-785F9D22B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C545-1B07-1A42-AB15-B6943E91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C74C9-D130-404C-9ACC-9C88D3B5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FB91F-3B40-AE43-AE10-5109D0C0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4941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379FD-E423-884A-B64A-2A809C752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DFF9B-F59A-3649-B310-69BF4D28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AE916-4CED-5245-BD32-D6E888104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D9B5E-47D9-E440-BA89-18C32FB1B318}" type="datetimeFigureOut">
              <a:rPr lang="en-IL" smtClean="0"/>
              <a:t>02/03/2026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6853-96E5-AB44-BABF-8D8B6AA65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8EA4A-5076-CA4D-A5B5-C79A9EEDF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97DC2-4069-7B4A-93F1-D1601CA41AF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06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hydrozoan&#10;&#10;Description automatically generated">
            <a:extLst>
              <a:ext uri="{FF2B5EF4-FFF2-40B4-BE49-F238E27FC236}">
                <a16:creationId xmlns:a16="http://schemas.microsoft.com/office/drawing/2014/main" id="{989E4B98-5200-C847-A94E-055028A06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98"/>
          <a:stretch/>
        </p:blipFill>
        <p:spPr>
          <a:xfrm flipH="1">
            <a:off x="-28452" y="-1"/>
            <a:ext cx="12220451" cy="68652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D4A4FA-159A-534D-B724-6B8FFDE7D7A5}"/>
              </a:ext>
            </a:extLst>
          </p:cNvPr>
          <p:cNvSpPr/>
          <p:nvPr/>
        </p:nvSpPr>
        <p:spPr>
          <a:xfrm>
            <a:off x="7383804" y="5563139"/>
            <a:ext cx="4808195" cy="731959"/>
          </a:xfrm>
          <a:prstGeom prst="rect">
            <a:avLst/>
          </a:prstGeom>
          <a:solidFill>
            <a:srgbClr val="D39F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A1F13-4381-554A-AB2A-504EA409F42A}"/>
              </a:ext>
            </a:extLst>
          </p:cNvPr>
          <p:cNvSpPr txBox="1"/>
          <p:nvPr/>
        </p:nvSpPr>
        <p:spPr>
          <a:xfrm>
            <a:off x="7500729" y="3740705"/>
            <a:ext cx="3957406" cy="1735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800" dirty="0">
                <a:solidFill>
                  <a:schemeClr val="bg1"/>
                </a:solidFill>
                <a:latin typeface="Assistant" pitchFamily="2" charset="-79"/>
                <a:cs typeface="Assistant" pitchFamily="2" charset="-79"/>
              </a:rPr>
              <a:t>Topologies for LLM Training</a:t>
            </a:r>
            <a:endParaRPr lang="en-IL" sz="4800" dirty="0">
              <a:solidFill>
                <a:schemeClr val="bg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C1E1B-C7D3-F342-A5D8-2BCDC930DA71}"/>
              </a:ext>
            </a:extLst>
          </p:cNvPr>
          <p:cNvSpPr txBox="1"/>
          <p:nvPr/>
        </p:nvSpPr>
        <p:spPr>
          <a:xfrm>
            <a:off x="7617655" y="5605952"/>
            <a:ext cx="384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sz="3200" dirty="0">
                <a:solidFill>
                  <a:srgbClr val="002046"/>
                </a:solidFill>
                <a:latin typeface="Assistant" pitchFamily="2" charset="-79"/>
                <a:cs typeface="Assistant" pitchFamily="2" charset="-79"/>
              </a:rPr>
              <a:t>SimAI Comparisons</a:t>
            </a:r>
            <a:endParaRPr lang="en-IL" sz="3200" dirty="0">
              <a:solidFill>
                <a:srgbClr val="002046"/>
              </a:solidFill>
              <a:latin typeface="Assistant" pitchFamily="2" charset="-79"/>
              <a:cs typeface="Assistant" pitchFamily="2" charset="-79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B012B8-1AB9-1347-AFBE-54942079D151}"/>
              </a:ext>
            </a:extLst>
          </p:cNvPr>
          <p:cNvCxnSpPr>
            <a:cxnSpLocks/>
          </p:cNvCxnSpPr>
          <p:nvPr/>
        </p:nvCxnSpPr>
        <p:spPr>
          <a:xfrm>
            <a:off x="88474" y="5929117"/>
            <a:ext cx="7412255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78FDCEE-54E3-B24F-9294-6EB59EB17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01" y="606659"/>
            <a:ext cx="4056888" cy="3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1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39F368-964E-BE4B-B682-BB0A99936B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743962-17EF-DC4A-B676-7D9DE4A211DA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7F675F-D824-8C48-A9E4-B299DF7C1E7B}"/>
              </a:ext>
            </a:extLst>
          </p:cNvPr>
          <p:cNvSpPr txBox="1"/>
          <p:nvPr/>
        </p:nvSpPr>
        <p:spPr>
          <a:xfrm>
            <a:off x="513834" y="495114"/>
            <a:ext cx="7119418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Simulations Configurations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CF4B7-B265-EE49-868C-2DCDC094895C}"/>
              </a:ext>
            </a:extLst>
          </p:cNvPr>
          <p:cNvSpPr txBox="1"/>
          <p:nvPr/>
        </p:nvSpPr>
        <p:spPr>
          <a:xfrm>
            <a:off x="576221" y="1265112"/>
            <a:ext cx="613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Models and Parameters Used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F2342C-6E56-6747-AF52-30CA03DA0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6EA9AD-2F2C-8679-BA40-878687D3A1EE}"/>
              </a:ext>
            </a:extLst>
          </p:cNvPr>
          <p:cNvSpPr txBox="1"/>
          <p:nvPr/>
        </p:nvSpPr>
        <p:spPr>
          <a:xfrm>
            <a:off x="576221" y="2029658"/>
            <a:ext cx="11233172" cy="369331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IL" dirty="0">
                <a:latin typeface="Assistant" pitchFamily="2" charset="-79"/>
                <a:cs typeface="Assistant" pitchFamily="2" charset="-79"/>
              </a:rPr>
              <a:t>Models used: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GPT: 7,13,22,175B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Llama: 405B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World Sizes: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64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128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512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1024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2048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4096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Parallelism Methods: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Tensor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Pipeline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Data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Expert Parallelism (MoE only)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Batch Size Parameters: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Global Batch Size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Micro Batch Size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Sequence Length</a:t>
            </a: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Architectures Compared:</a:t>
            </a:r>
          </a:p>
          <a:p>
            <a:pPr marL="285750" indent="-285750">
              <a:buFontTx/>
              <a:buChar char="-"/>
            </a:pPr>
            <a:r>
              <a:rPr lang="en-IL">
                <a:latin typeface="Assistant" pitchFamily="2" charset="-79"/>
                <a:cs typeface="Assistant" pitchFamily="2" charset="-79"/>
              </a:rPr>
              <a:t>MoE based (16 experts)</a:t>
            </a:r>
            <a:endParaRPr lang="en-IL" dirty="0">
              <a:latin typeface="Assistant" pitchFamily="2" charset="-79"/>
              <a:cs typeface="Assistant" pitchFamily="2" charset="-79"/>
            </a:endParaRP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Densed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Topologies Compared: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Fat Tree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DragonFly+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Hyperx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b="1" dirty="0">
                <a:latin typeface="Assistant" pitchFamily="2" charset="-79"/>
                <a:cs typeface="Assistant" pitchFamily="2" charset="-79"/>
              </a:rPr>
              <a:t>Total 123 setups per architecture</a:t>
            </a: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 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3368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1E7E-B53D-D260-2FD0-494D35C3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7E3E30-1021-1565-F4BA-0DB76D2B7A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207D5D-3B8C-89E7-D01A-4D03EBECABA1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A0E3F7-76C7-099F-BFD6-B441604A6CD8}"/>
              </a:ext>
            </a:extLst>
          </p:cNvPr>
          <p:cNvSpPr txBox="1"/>
          <p:nvPr/>
        </p:nvSpPr>
        <p:spPr>
          <a:xfrm>
            <a:off x="513834" y="495114"/>
            <a:ext cx="8280542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Overall Overhead Comparison 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53193-26FF-F13B-A449-85514F5EF54D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High Level Comparison of Each Topology Over Architecture Framework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42CA92-AEBA-BB23-2513-C344213D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A4E100-A5F2-91E3-80E4-50FF9BD2E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733" y="1767518"/>
            <a:ext cx="5803261" cy="416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8F43-ADEF-4554-F5F9-B2E9B4AD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B8C297-A1B1-8501-C315-C7355C8A1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E171EE-7EC9-045C-D812-9F20E0DF093C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CC5C77-392F-6934-7955-BEEA80ADAE56}"/>
              </a:ext>
            </a:extLst>
          </p:cNvPr>
          <p:cNvSpPr txBox="1"/>
          <p:nvPr/>
        </p:nvSpPr>
        <p:spPr>
          <a:xfrm>
            <a:off x="513834" y="495114"/>
            <a:ext cx="8280542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Overhead Distribution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A7228-0235-4603-4158-06A195EE2137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Over 1024 and 2048 World Sizes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75B61-F1CC-025C-664C-88BCCD337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CA9C0B-9BF3-9ACE-2705-BD235BF275D9}"/>
              </a:ext>
            </a:extLst>
          </p:cNvPr>
          <p:cNvSpPr txBox="1"/>
          <p:nvPr/>
        </p:nvSpPr>
        <p:spPr>
          <a:xfrm>
            <a:off x="1092327" y="-4659865"/>
            <a:ext cx="11233172" cy="369331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IL" dirty="0">
                <a:latin typeface="Assistant" pitchFamily="2" charset="-79"/>
                <a:cs typeface="Assistant" pitchFamily="2" charset="-79"/>
              </a:rPr>
              <a:t>Models used: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GPT: 7,13,22,175B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Llama: 405B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World Sizes: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64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128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512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1024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2048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4096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Parallelism Methods: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Tensor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Pipeline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Data Parallelism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Expert Parallelism (MoE only)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  <a:p>
            <a:r>
              <a:rPr lang="en-IL" dirty="0">
                <a:latin typeface="Assistant" pitchFamily="2" charset="-79"/>
                <a:cs typeface="Assistant" pitchFamily="2" charset="-79"/>
              </a:rPr>
              <a:t>Batch Size Parameters: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Global Batch Size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Micro Batch Size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Sequence Length</a:t>
            </a: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5AFBB5-BD29-BCFD-CE9C-F94B10FC5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795767"/>
            <a:ext cx="7772400" cy="46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5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87E0-05E2-773D-E337-A4E9A689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229A4F-FF77-6786-9A40-EAD369AAD6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6D5E53-04C6-212D-409F-5C29146F7272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F1DB99B-E196-BEA0-ECB7-92E15080C5D8}"/>
              </a:ext>
            </a:extLst>
          </p:cNvPr>
          <p:cNvSpPr txBox="1"/>
          <p:nvPr/>
        </p:nvSpPr>
        <p:spPr>
          <a:xfrm>
            <a:off x="513834" y="495114"/>
            <a:ext cx="7119418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Link Overloading Analysis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1A11A-5D7A-607B-2195-011573B0FE9A}"/>
              </a:ext>
            </a:extLst>
          </p:cNvPr>
          <p:cNvSpPr txBox="1"/>
          <p:nvPr/>
        </p:nvSpPr>
        <p:spPr>
          <a:xfrm>
            <a:off x="576221" y="1265112"/>
            <a:ext cx="613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Experiment Description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B9F8F-8AA2-77EB-C905-451402076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DEFD2F-926B-4606-21B3-3687B5EB88C2}"/>
              </a:ext>
            </a:extLst>
          </p:cNvPr>
          <p:cNvSpPr txBox="1"/>
          <p:nvPr/>
        </p:nvSpPr>
        <p:spPr>
          <a:xfrm>
            <a:off x="576221" y="2029644"/>
            <a:ext cx="11233172" cy="3240000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IL" dirty="0">
                <a:latin typeface="Assistant" pitchFamily="2" charset="-79"/>
                <a:cs typeface="Assistant" pitchFamily="2" charset="-79"/>
              </a:rPr>
              <a:t>In the following experiment, we tested how the links between GPUs behaved in terms of overloading in the </a:t>
            </a:r>
            <a:r>
              <a:rPr lang="en-IL" b="1" dirty="0">
                <a:latin typeface="Assistant" pitchFamily="2" charset="-79"/>
                <a:cs typeface="Assistant" pitchFamily="2" charset="-79"/>
              </a:rPr>
              <a:t>Fat Tree, DragonFly+ </a:t>
            </a:r>
            <a:r>
              <a:rPr lang="en-IL" dirty="0">
                <a:latin typeface="Assistant" pitchFamily="2" charset="-79"/>
                <a:cs typeface="Assistant" pitchFamily="2" charset="-79"/>
              </a:rPr>
              <a:t>and </a:t>
            </a:r>
            <a:r>
              <a:rPr lang="en-IL" b="1" dirty="0">
                <a:latin typeface="Assistant" pitchFamily="2" charset="-79"/>
                <a:cs typeface="Assistant" pitchFamily="2" charset="-79"/>
              </a:rPr>
              <a:t>HyperX</a:t>
            </a:r>
            <a:r>
              <a:rPr lang="en-IL" dirty="0">
                <a:latin typeface="Assistant" pitchFamily="2" charset="-79"/>
                <a:cs typeface="Assistant" pitchFamily="2" charset="-79"/>
              </a:rPr>
              <a:t> topologies.</a:t>
            </a: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Each switch was built with 64 ports for both down and up linking.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Each topology held the minimal amount of switches required for its deployment.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Each source GPU overloaded the shortest path links to its endpoint according to the transport matrix.</a:t>
            </a:r>
          </a:p>
          <a:p>
            <a:pPr marL="285750" indent="-285750">
              <a:buFontTx/>
              <a:buChar char="-"/>
            </a:pPr>
            <a:r>
              <a:rPr lang="en-IL" dirty="0">
                <a:latin typeface="Assistant" pitchFamily="2" charset="-79"/>
                <a:cs typeface="Assistant" pitchFamily="2" charset="-79"/>
              </a:rPr>
              <a:t>For multiple shortest paths, we tested both overloading the first found and spreading the load equally between links.</a:t>
            </a: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endParaRPr lang="en-IL" dirty="0">
              <a:latin typeface="Assistant" pitchFamily="2" charset="-79"/>
              <a:cs typeface="Assistant" pitchFamily="2" charset="-79"/>
            </a:endParaRPr>
          </a:p>
          <a:p>
            <a:pPr marL="285750" indent="-285750">
              <a:buFontTx/>
              <a:buChar char="-"/>
            </a:pP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538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82B4-478D-D1D2-A6A6-5F574493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A17CE5-866E-9300-A323-90EC3BFEAB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C8889B-B515-DA0F-B3E3-ECD294038D2E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E93B14-53BC-3857-D5B3-CB51007B8A7C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 err="1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MoE</a:t>
            </a: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C75C2-897D-F888-55B6-51E358586CFF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256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320337-AD38-43F1-9A8D-24F7B750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2BC70-3D29-6D29-34EF-E451D56AD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F1790D-CCCD-C39C-4535-96B9BD8F4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3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0F1E-B15B-7259-88A3-8B34A7E9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3FA592-21EE-5BE0-89DA-3B3178CD8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90BE5B-5B90-F044-12E1-139A1D42C533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CF97FA5-1E15-63FD-6E69-389DF66D66C0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 err="1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MoE</a:t>
            </a: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5A56D-D2CA-7E3D-0CFB-9E97D0FA0238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1024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7E6B7-FEE3-98BA-7B6E-B7FDBC500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1D41C6-F2E5-4EBF-A327-9CA32B910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A328CB-27F3-ADA3-F0E0-7351AFE64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3419A-E68C-8190-9F39-397D3EFE9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379" y="1988918"/>
            <a:ext cx="5915872" cy="2866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A8F1FC-041B-257F-42F9-4BFF66FF3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9" y="1988918"/>
            <a:ext cx="5762776" cy="28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4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9835-3FE0-E81A-7917-75B4C69B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A2647E-8AD4-2526-53DE-09DAC1008D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AA9094-6B67-34F2-C87A-0CB58E97FA31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276BDA-C560-7847-7550-B4E1925B0DF8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 err="1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MoE</a:t>
            </a: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348E7-DE48-B305-11F3-41DCCC51A2BB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2048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0C4338-2E48-1CF7-DE20-E53225CF5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D43C52-B7B7-444E-8BDA-BE54335C6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7DDD51-6252-B454-4E97-30A5FED11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06085B-348D-6830-4699-C876FF8B1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9" y="1988918"/>
            <a:ext cx="5762776" cy="2832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6EF91-238E-6521-684D-B1A43B60CD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9" y="1988918"/>
            <a:ext cx="5858251" cy="283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35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5BDCC1-F862-3132-AD92-7999BFFD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D87FF6-6774-B886-7A39-D2FD8B374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B54FA1-8745-F4B8-B733-CA258CD86E53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71B153-D985-2EAC-C63A-B5BC97976B89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Dense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16DEF-3DA0-C505-4492-FCA9750AFE0A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256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07AB1F-8FC4-C9C8-130B-388283DB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BC57D6-D560-C354-233D-1CB7C063A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6510D6-F53C-D1CC-66A3-DA05004E4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45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DE63-00F0-22A2-075E-FFA6DE07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7FB770-BABC-8710-CC70-06A52DC9DB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2CE51A-AFD0-AB0E-CC2D-E24E90375ABA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1F5AC9-F886-3B30-0CF9-5A89B95B830E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Dense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58AFE-C443-7E02-95B7-A213FB52F3D4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1024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F68DFF-1727-1498-8419-340867967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811125-37C8-CBA5-225C-A22369153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9CC00D-00FB-01F7-A04C-0FD834948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182A92-B888-1B62-95A1-BF7ADED88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379" y="1988918"/>
            <a:ext cx="5915872" cy="2866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FE1F3-47F4-8ABF-88B9-122BA43148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9" y="1988918"/>
            <a:ext cx="5762776" cy="2832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63DFBC-D9AC-21CE-15B4-F8D0EF484B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9" y="1988909"/>
            <a:ext cx="5845603" cy="2832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69FF5C-5555-0B69-F9DA-F129F9BBAE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803" y="1988909"/>
            <a:ext cx="5928447" cy="283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0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C391-05F4-3A24-324A-0BBF801A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2ECD52-0704-1CE0-01C3-AE825EEB3F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C91766-B39F-CF9C-4DC5-A0A5EF387F99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C5E7F9C-1146-2F7B-AD19-38A840E4D012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Dense Based Architecture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CFCF2-3965-E3C3-D5AD-B6D02A3D2454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World Size: 2048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DA0592-B9A5-34F6-6A98-3DF28489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2FA35-5BF8-4C5A-5D52-6E0337E99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8918"/>
            <a:ext cx="5858251" cy="2866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BC2569-EEC3-31F4-D675-61986C337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71" y="1988918"/>
            <a:ext cx="5779654" cy="28662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A66343-5087-978B-E102-826C42E02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9" y="1988918"/>
            <a:ext cx="5762776" cy="2832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69192E-242C-06E2-E1B7-1EA1FD7DE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9" y="1988918"/>
            <a:ext cx="5858251" cy="2838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B6EFC8-A9C6-BB0F-613B-CFF58BFF0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8" y="1986957"/>
            <a:ext cx="5779654" cy="2773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A451B9-CBE2-E5E4-557B-2E981A6206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425" y="1986957"/>
            <a:ext cx="5855703" cy="2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1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17E7-E186-832E-2BA9-701FA712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438E38-6F5F-933D-4162-1106DA0DD4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77" b="43976"/>
          <a:stretch/>
        </p:blipFill>
        <p:spPr>
          <a:xfrm flipH="1">
            <a:off x="0" y="5481410"/>
            <a:ext cx="3892061" cy="137659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407DCD-6017-0C9A-8034-983E1A990E34}"/>
              </a:ext>
            </a:extLst>
          </p:cNvPr>
          <p:cNvCxnSpPr>
            <a:cxnSpLocks/>
          </p:cNvCxnSpPr>
          <p:nvPr/>
        </p:nvCxnSpPr>
        <p:spPr>
          <a:xfrm>
            <a:off x="16878" y="6362885"/>
            <a:ext cx="7338646" cy="0"/>
          </a:xfrm>
          <a:prstGeom prst="line">
            <a:avLst/>
          </a:prstGeom>
          <a:ln w="12700">
            <a:solidFill>
              <a:srgbClr val="D39F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976AD7-DDFA-EBDA-F615-3AD8049989A6}"/>
              </a:ext>
            </a:extLst>
          </p:cNvPr>
          <p:cNvSpPr txBox="1"/>
          <p:nvPr/>
        </p:nvSpPr>
        <p:spPr>
          <a:xfrm>
            <a:off x="513833" y="495114"/>
            <a:ext cx="10730429" cy="875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600"/>
              </a:lnSpc>
            </a:pPr>
            <a:r>
              <a:rPr lang="en-US" sz="4400" dirty="0">
                <a:solidFill>
                  <a:srgbClr val="002047"/>
                </a:solidFill>
                <a:latin typeface="Assistant" pitchFamily="2" charset="-79"/>
                <a:cs typeface="Assistant" pitchFamily="2" charset="-79"/>
              </a:rPr>
              <a:t>Latency Calculation</a:t>
            </a:r>
            <a:endParaRPr lang="en-IL" sz="4400" dirty="0">
              <a:solidFill>
                <a:srgbClr val="002047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B666B-89C3-25CD-6DA6-BBE92D737BEC}"/>
              </a:ext>
            </a:extLst>
          </p:cNvPr>
          <p:cNvSpPr txBox="1"/>
          <p:nvPr/>
        </p:nvSpPr>
        <p:spPr>
          <a:xfrm>
            <a:off x="576220" y="1265112"/>
            <a:ext cx="9630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sz="2400" dirty="0" err="1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Evluating</a:t>
            </a:r>
            <a:r>
              <a:rPr lang="en-US" sz="2400" dirty="0">
                <a:solidFill>
                  <a:srgbClr val="D39F10"/>
                </a:solidFill>
                <a:latin typeface="Assistant" pitchFamily="2" charset="-79"/>
                <a:cs typeface="Assistant" pitchFamily="2" charset="-79"/>
              </a:rPr>
              <a:t> Latency by Graphs</a:t>
            </a:r>
            <a:endParaRPr lang="en-IL" sz="2400" dirty="0">
              <a:solidFill>
                <a:srgbClr val="D39F1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6A1CB-E4D5-A395-7ACF-AA4534ED1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05" y="6169705"/>
            <a:ext cx="4056888" cy="3042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B1AB6F-3591-AF83-1CCB-165E2E3D61FE}"/>
                  </a:ext>
                </a:extLst>
              </p:cNvPr>
              <p:cNvSpPr txBox="1"/>
              <p:nvPr/>
            </p:nvSpPr>
            <p:spPr>
              <a:xfrm>
                <a:off x="576221" y="1726777"/>
                <a:ext cx="11233172" cy="493340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Latency from GPU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𝑖</m:t>
                    </m:r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to GPU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𝑗</m:t>
                    </m:r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calculated using the following formula:</a:t>
                </a:r>
              </a:p>
              <a:p>
                <a:endParaRPr lang="en-IL" dirty="0">
                  <a:latin typeface="Assistant" pitchFamily="2" charset="-79"/>
                  <a:cs typeface="Assistant" pitchFamily="2" charset="-79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#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h𝑜𝑝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𝑖𝑗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𝑖𝑗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  <m:t>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cs typeface="Assistant" pitchFamily="2" charset="-79"/>
                        </a:rPr>
                        <m:t> </m:t>
                      </m:r>
                    </m:oMath>
                  </m:oMathPara>
                </a14:m>
                <a:endParaRPr lang="en-IL" dirty="0">
                  <a:latin typeface="Assistant" pitchFamily="2" charset="-79"/>
                  <a:cs typeface="Assistant" pitchFamily="2" charset="-79"/>
                </a:endParaRPr>
              </a:p>
              <a:p>
                <a:endParaRPr lang="en-IL" dirty="0">
                  <a:latin typeface="Assistant" pitchFamily="2" charset="-79"/>
                  <a:cs typeface="Assistant" pitchFamily="2" charset="-79"/>
                </a:endParaRPr>
              </a:p>
              <a:p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Where: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≥0</m:t>
                    </m:r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a coefficient for hops delay (currently set to 0).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≥0</m:t>
                    </m:r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the number of Bytes sent in total.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the group of edges used in the transmitions.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ssistant" pitchFamily="2" charset="-79"/>
                      </a:rPr>
                      <m:t>𝐵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the edge’s bandwith (currently set to 0).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ssistant" pitchFamily="2" charset="-79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ssistant" pitchFamily="2" charset="-79"/>
                      </a:rPr>
                      <m:t>∈[0,1)</m:t>
                    </m:r>
                  </m:oMath>
                </a14:m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 is the edge’s load factor (depends on the edge’s capacity, currently results in 0).</a:t>
                </a:r>
              </a:p>
              <a:p>
                <a:pPr marL="285750" indent="-285750">
                  <a:buFontTx/>
                  <a:buChar char="-"/>
                </a:pPr>
                <a:endParaRPr lang="en-IL" dirty="0">
                  <a:latin typeface="Assistant" pitchFamily="2" charset="-79"/>
                  <a:cs typeface="Assistant" pitchFamily="2" charset="-79"/>
                </a:endParaRPr>
              </a:p>
              <a:p>
                <a:r>
                  <a:rPr lang="en-IL" dirty="0">
                    <a:latin typeface="Assistant" pitchFamily="2" charset="-79"/>
                    <a:cs typeface="Assistant" pitchFamily="2" charset="-79"/>
                  </a:rPr>
                  <a:t>Simplified: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Assistant" pitchFamily="2" charset="-79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Assistant" pitchFamily="2" charset="-79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ssistant" pitchFamily="2" charset="-79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  <m:t>𝑖𝑗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ssistant" pitchFamily="2" charset="-79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ssistant" pitchFamily="2" charset="-79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cs typeface="Assistant" pitchFamily="2" charset="-79"/>
                                        </a:rPr>
                                        <m:t>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cs typeface="Assistant" pitchFamily="2" charset="-79"/>
                        </a:rPr>
                        <m:t> </m:t>
                      </m:r>
                    </m:oMath>
                  </m:oMathPara>
                </a14:m>
                <a:endParaRPr lang="en-IL" dirty="0">
                  <a:latin typeface="Assistant" pitchFamily="2" charset="-79"/>
                  <a:cs typeface="Assistant" pitchFamily="2" charset="-79"/>
                </a:endParaRPr>
              </a:p>
              <a:p>
                <a:endParaRPr lang="en-IL" dirty="0">
                  <a:latin typeface="Assistant" pitchFamily="2" charset="-79"/>
                  <a:cs typeface="Assistant" pitchFamily="2" charset="-79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B1AB6F-3591-AF83-1CCB-165E2E3D6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21" y="1726777"/>
                <a:ext cx="11233172" cy="4933402"/>
              </a:xfrm>
              <a:prstGeom prst="rect">
                <a:avLst/>
              </a:prstGeom>
              <a:blipFill>
                <a:blip r:embed="rId4"/>
                <a:stretch>
                  <a:fillRect l="-452" t="-7692" b="-1923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184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396</Words>
  <Application>Microsoft Macintosh PowerPoint</Application>
  <PresentationFormat>Widescreen</PresentationFormat>
  <Paragraphs>104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Assistant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Linoy Gal</dc:creator>
  <cp:lastModifiedBy>Eden Avidan</cp:lastModifiedBy>
  <cp:revision>12</cp:revision>
  <dcterms:created xsi:type="dcterms:W3CDTF">2020-12-22T23:28:39Z</dcterms:created>
  <dcterms:modified xsi:type="dcterms:W3CDTF">2026-03-05T16:09:03Z</dcterms:modified>
</cp:coreProperties>
</file>