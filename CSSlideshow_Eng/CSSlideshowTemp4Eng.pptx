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5" r:id="rId9"/>
    <p:sldId id="266" r:id="rId10"/>
    <p:sldId id="267" r:id="rId11"/>
    <p:sldId id="268" r:id="rId12"/>
    <p:sldId id="269" r:id="rId13"/>
    <p:sldId id="270" r:id="rId14"/>
  </p:sldIdLst>
  <p:sldSz cx="12192000" cy="6858000"/>
  <p:notesSz cx="6858000" cy="9144000"/>
  <p:defaultTextStyle>
    <a:defPPr>
      <a:defRPr lang="en-IL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30237"/>
    <p:restoredTop sz="96327"/>
  </p:normalViewPr>
  <p:slideViewPr>
    <p:cSldViewPr snapToGrid="0" snapToObjects="1">
      <p:cViewPr>
        <p:scale>
          <a:sx n="90" d="100"/>
          <a:sy n="90" d="100"/>
        </p:scale>
        <p:origin x="1544" y="17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599CB8-913E-A34A-BDF2-EEC5DC0977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0B5C5F3-8A22-7D4E-AC0D-C92496E56C5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DC726C0-3EC1-2948-BB91-BCEAB1ED16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7531743-6607-574A-ADC4-B864B3BDBD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C12319B-6A50-F948-A691-C7A6E75EE8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65808296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1BCFDB-AB21-E14A-9DB1-FCEC2860E8B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0761094-B853-3544-9614-38A9BC42DA6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C02D3AD-178E-464C-B655-0BADECC0A7A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5114C46-5085-B84A-BC8A-5EF9D30B4D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47C68A-5709-9247-9F53-1ECEB8029D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8929461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AE0576-1B08-0A42-B150-E8A9EA9A41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8C9F74-E70E-944A-9672-BFBA715CE2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A08FD5-89D0-E54B-A829-A707778637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10F0710-91C2-2442-AC36-9F68E4A3AF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A0BA774-DEC9-A149-B2D4-4EC09B669B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7396796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56CDCE-D284-7F47-BDA2-C03E5FB32C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7E5D251-5ED4-1A4E-A399-3B6E7A5123D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2DFC1970-4807-6446-85DA-EFCDC5AA9BE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54B77EF-DD78-B743-91B3-2497EA61C3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CBE71B8-36DB-9545-A383-F26D8A1E9E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7742C55-C14C-2743-8C7E-02EDF20CE6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1459179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32C047A-2895-2A47-84C2-A6A231E6F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322D7CF-91A7-4D4D-AEAB-D2C4122A9DD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E7FC47D-B76A-0148-B964-1042DFAF78F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D744B324-717B-7B4D-BBE9-C005C7B7EE5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71FA572-87A8-DF48-973E-D233FBD3C1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D49B630-FC00-3347-9A5B-BA47821726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D101262-4919-DF45-859D-906A2A54450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E299243-203C-2240-BD82-D872727503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999359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00A22C-27DA-0A42-9C72-825C564624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5EEBF4-0E5D-D14C-8521-D8392D1102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2FB9DD8-72CA-8A42-955E-8143462CED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7CB359-40FF-944D-8507-F454DCA07F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42887498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7EA304-A388-2045-B322-C8EA38E28F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2ADB41E-FA86-5549-A913-52C849A23EA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F7B0BBF-58E4-7E41-95A9-0795FC6998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16740268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657754-6440-1A4F-808A-87C8CAA971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B9A77A-483B-E54F-9BA0-1A4761E3206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55E30C4-DC68-154A-8E50-6A21A93A34D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8B8CF25-05C8-8345-93E5-6DF3D963B4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CC560AA-F20F-BC45-8097-5BDB3DDAEC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BED1F6F-91D1-6A4B-9A73-D703625BC6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42159413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46133F-BFE0-3043-A279-D872708A2E6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3036A8A-BEE3-094A-9666-84F2380BF2D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L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94FB82D-D6E1-A14F-AD8A-F7BBD2AA0C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95A2183-D8A5-BA4A-B418-68097EAA51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1D45513-A0D9-184D-8D45-FD6CE89A36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CF0BA2-4CAC-1D48-8705-847A1A96F3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321571500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1EFA166-E50D-2C44-8376-6FFD96F56A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C1F2331-C43D-B64D-90EE-99F47E41560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2CE1B8-9CB8-5941-A241-AC44B70971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261D8ED-98D2-8E4F-BDB7-A5108F357F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8C0385-1A57-ED41-AE37-60A6D51072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49378460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8D2F1BC7-FE21-3C4C-9609-08042055B2C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BF7A76F7-44C7-1B4D-883B-785F9D22B22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99C545-1B07-1A42-AB15-B6943E91D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DC74C9-D130-404C-9ACC-9C88D3B5D8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1FB91F-3B40-AE43-AE10-5109D0C0E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227494125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DC379FD-E423-884A-B64A-2A809C75272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L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9DFF9B-F59A-3649-B310-69BF4D286A0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L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CAE916-4CED-5245-BD32-D6E888104DC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76D9B5E-47D9-E440-BA89-18C32FB1B318}" type="datetimeFigureOut">
              <a:rPr lang="en-IL" smtClean="0"/>
              <a:t>02/03/2026</a:t>
            </a:fld>
            <a:endParaRPr lang="en-IL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7F6853-96E5-AB44-BABF-8D8B6AA65ED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L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9C8EA4A-5076-CA4D-A5B5-C79A9EEDF06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497DC2-4069-7B4A-93F1-D1601CA41AF7}" type="slidenum">
              <a:rPr lang="en-IL" smtClean="0"/>
              <a:t>‹#›</a:t>
            </a:fld>
            <a:endParaRPr lang="en-IL"/>
          </a:p>
        </p:txBody>
      </p:sp>
    </p:spTree>
    <p:extLst>
      <p:ext uri="{BB962C8B-B14F-4D97-AF65-F5344CB8AC3E}">
        <p14:creationId xmlns:p14="http://schemas.microsoft.com/office/powerpoint/2010/main" val="550673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IL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4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6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7" Type="http://schemas.openxmlformats.org/officeDocument/2006/relationships/image" Target="../media/image18.png"/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7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picture containing hydrozoan&#10;&#10;Description automatically generated">
            <a:extLst>
              <a:ext uri="{FF2B5EF4-FFF2-40B4-BE49-F238E27FC236}">
                <a16:creationId xmlns:a16="http://schemas.microsoft.com/office/drawing/2014/main" id="{989E4B98-5200-C847-A94E-055028A06929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l="10998"/>
          <a:stretch/>
        </p:blipFill>
        <p:spPr>
          <a:xfrm flipH="1">
            <a:off x="-28452" y="-1"/>
            <a:ext cx="12220451" cy="6865257"/>
          </a:xfrm>
          <a:prstGeom prst="rect">
            <a:avLst/>
          </a:prstGeom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4AD4A4FA-159A-534D-B724-6B8FFDE7D7A5}"/>
              </a:ext>
            </a:extLst>
          </p:cNvPr>
          <p:cNvSpPr/>
          <p:nvPr/>
        </p:nvSpPr>
        <p:spPr>
          <a:xfrm>
            <a:off x="7383804" y="5563139"/>
            <a:ext cx="4808195" cy="731959"/>
          </a:xfrm>
          <a:prstGeom prst="rect">
            <a:avLst/>
          </a:prstGeom>
          <a:solidFill>
            <a:srgbClr val="D39F0C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algn="ctr" defTabSz="914400" rtl="0" eaLnBrk="1" latinLnBrk="0" hangingPunct="1"/>
            <a:endParaRPr lang="en-IL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3CA1F13-4381-554A-AB2A-504EA409F42A}"/>
              </a:ext>
            </a:extLst>
          </p:cNvPr>
          <p:cNvSpPr txBox="1"/>
          <p:nvPr/>
        </p:nvSpPr>
        <p:spPr>
          <a:xfrm>
            <a:off x="7500729" y="3740705"/>
            <a:ext cx="3957406" cy="17356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800" dirty="0">
                <a:solidFill>
                  <a:schemeClr val="bg1"/>
                </a:solidFill>
                <a:latin typeface="Assistant" pitchFamily="2" charset="-79"/>
                <a:cs typeface="Assistant" pitchFamily="2" charset="-79"/>
              </a:rPr>
              <a:t>Topologies for LLM Training</a:t>
            </a:r>
            <a:endParaRPr lang="en-IL" sz="4800" dirty="0">
              <a:solidFill>
                <a:schemeClr val="bg1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220C1E1B-C7D3-F342-A5D8-2BCDC930DA71}"/>
              </a:ext>
            </a:extLst>
          </p:cNvPr>
          <p:cNvSpPr txBox="1"/>
          <p:nvPr/>
        </p:nvSpPr>
        <p:spPr>
          <a:xfrm>
            <a:off x="7617655" y="5605952"/>
            <a:ext cx="384048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rtl="0" eaLnBrk="1" latinLnBrk="0" hangingPunct="1"/>
            <a:r>
              <a:rPr lang="en-US" sz="3200" dirty="0">
                <a:solidFill>
                  <a:srgbClr val="002046"/>
                </a:solidFill>
                <a:latin typeface="Assistant" pitchFamily="2" charset="-79"/>
                <a:cs typeface="Assistant" pitchFamily="2" charset="-79"/>
              </a:rPr>
              <a:t>SimAI Comparisons</a:t>
            </a:r>
            <a:endParaRPr lang="en-IL" sz="3200" dirty="0">
              <a:solidFill>
                <a:srgbClr val="002046"/>
              </a:solidFill>
              <a:latin typeface="Assistant" pitchFamily="2" charset="-79"/>
              <a:cs typeface="Assistant" pitchFamily="2" charset="-79"/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8EB012B8-1AB9-1347-AFBE-54942079D151}"/>
              </a:ext>
            </a:extLst>
          </p:cNvPr>
          <p:cNvCxnSpPr>
            <a:cxnSpLocks/>
          </p:cNvCxnSpPr>
          <p:nvPr/>
        </p:nvCxnSpPr>
        <p:spPr>
          <a:xfrm>
            <a:off x="88474" y="5929117"/>
            <a:ext cx="7412255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E78FDCEE-54E3-B24F-9294-6EB59EB1779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2301" y="606659"/>
            <a:ext cx="4056888" cy="30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7861380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FE39F368-964E-BE4B-B682-BB0A99936BA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743962-17EF-DC4A-B676-7D9DE4A211DA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367F675F-D824-8C48-A9E4-B299DF7C1E7B}"/>
              </a:ext>
            </a:extLst>
          </p:cNvPr>
          <p:cNvSpPr txBox="1"/>
          <p:nvPr/>
        </p:nvSpPr>
        <p:spPr>
          <a:xfrm>
            <a:off x="513834" y="495114"/>
            <a:ext cx="7119418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Simulations Configurations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67CF4B7-B265-EE49-868C-2DCDC094895C}"/>
              </a:ext>
            </a:extLst>
          </p:cNvPr>
          <p:cNvSpPr txBox="1"/>
          <p:nvPr/>
        </p:nvSpPr>
        <p:spPr>
          <a:xfrm>
            <a:off x="576221" y="1265112"/>
            <a:ext cx="6132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Models and Parameters Used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F6F2342C-6E56-6747-AF52-30CA03DA05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B6EA9AD-2F2C-8679-BA40-878687D3A1EE}"/>
              </a:ext>
            </a:extLst>
          </p:cNvPr>
          <p:cNvSpPr txBox="1"/>
          <p:nvPr/>
        </p:nvSpPr>
        <p:spPr>
          <a:xfrm>
            <a:off x="576221" y="2029658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Architectures Compared:</a:t>
            </a:r>
          </a:p>
          <a:p>
            <a:pPr marL="285750" indent="-285750">
              <a:buFontTx/>
              <a:buChar char="-"/>
            </a:pPr>
            <a:r>
              <a:rPr lang="en-IL">
                <a:latin typeface="Assistant" pitchFamily="2" charset="-79"/>
                <a:cs typeface="Assistant" pitchFamily="2" charset="-79"/>
              </a:rPr>
              <a:t>MoE based (16 experts)</a:t>
            </a: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Densed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Topologies Compared: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Fat Tree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DragonFly+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Hyperx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b="1" dirty="0">
                <a:latin typeface="Assistant" pitchFamily="2" charset="-79"/>
                <a:cs typeface="Assistant" pitchFamily="2" charset="-79"/>
              </a:rPr>
              <a:t>Total 123 setups per architecture</a:t>
            </a: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 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143368553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251E7E-B53D-D260-2FD0-494D35C3A2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A7E3E30-1021-1565-F4BA-0DB76D2B7AF7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3967617-5F47-57CE-C216-5D9827957FB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5554" y="1911637"/>
            <a:ext cx="5656729" cy="422779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870ABA72-CFE1-B8BA-186B-FC67E08A8AE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69718" y="1911638"/>
            <a:ext cx="5656728" cy="4227797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7B207D5D-3B8C-89E7-D01A-4D03EBECABA1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16A0E3F7-76C7-099F-BFD6-B441604A6CD8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Overall Overhead Comparison 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E853193-26FF-F13B-A449-85514F5EF54D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High Level Comparison of Each Topology Over Architecture Framework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5642CA92-AEBA-BB23-2513-C344213DDB8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96437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A78F43-ADEF-4554-F5F9-B2E9B4AD03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9B8C297-A1B1-8501-C315-C7355C8A1158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37D6AB98-0098-C6FC-7C89-D892461F48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6220" y="2140802"/>
            <a:ext cx="5349138" cy="3188597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477CE1FF-300D-36C6-22DD-0805FEAE907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66642" y="2140801"/>
            <a:ext cx="5349138" cy="3188597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8DE171EE-7EC9-045C-D812-9F20E0DF093C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74CC5C77-392F-6934-7955-BEEA80ADAE56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Overhead Distribution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82A7228-0235-4603-4158-06A195EE2137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Over 1024 and 2048 World Sizes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BB75B61-F1CC-025C-664C-88BCCD337BB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72CA9C0B-9BF3-9ACE-2705-BD235BF275D9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0897578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65E0B5-6B4C-91BB-2B55-434B721926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A2367F42-9BE5-AFBE-DB85-121832EABCCE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DBB12EAA-65F6-0EFA-4839-72FEA11B78DE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EED9ED4-189F-63B3-A6BA-5CF7841CA032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Overhead Distribution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B8D80B0-EF64-F505-A52C-5FBA0FD5D0E0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Over 1024 and 2048 World Sizes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5DAC7DE-8AA0-62B7-E357-2B66985FA8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82F8A6EF-5984-AD04-77A0-A0EEB967CD24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247D8618-FD74-F48E-3206-9DD973CDFDC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76220" y="2140801"/>
            <a:ext cx="5349138" cy="3188597"/>
          </a:xfrm>
          <a:prstGeom prst="rect">
            <a:avLst/>
          </a:prstGeom>
        </p:spPr>
      </p:pic>
      <p:pic>
        <p:nvPicPr>
          <p:cNvPr id="14" name="Picture 13">
            <a:extLst>
              <a:ext uri="{FF2B5EF4-FFF2-40B4-BE49-F238E27FC236}">
                <a16:creationId xmlns:a16="http://schemas.microsoft.com/office/drawing/2014/main" id="{EA3BC895-54DD-1C71-4655-9D32F7F00A7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6642" y="2140800"/>
            <a:ext cx="5349138" cy="31885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8505438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C70B3-A139-A20F-CF10-9EC5AEADE5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93D81DD7-70CD-F982-9FE9-9FF6E3885CB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25A4CB2-4A37-2D3D-DC55-B5F9A7FA48CC}"/>
              </a:ext>
            </a:extLst>
          </p:cNvPr>
          <p:cNvCxnSpPr>
            <a:cxnSpLocks/>
          </p:cNvCxnSpPr>
          <p:nvPr/>
        </p:nvCxnSpPr>
        <p:spPr>
          <a:xfrm>
            <a:off x="48409" y="6369191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C304FB94-CF50-C363-8FB2-CD4108A168F4}"/>
              </a:ext>
            </a:extLst>
          </p:cNvPr>
          <p:cNvSpPr txBox="1"/>
          <p:nvPr/>
        </p:nvSpPr>
        <p:spPr>
          <a:xfrm>
            <a:off x="513834" y="495114"/>
            <a:ext cx="8280542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Overhead Distribution Comparison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0014288-10AD-663F-917A-F0D0A0CCD15F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Between </a:t>
            </a:r>
            <a:r>
              <a:rPr lang="en-US" sz="2400" dirty="0" err="1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 and Dense Architectures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360442FE-A1F2-3968-E0BF-296469BB9F0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B367267F-C472-6F54-BDB0-B5F56EC66D73}"/>
              </a:ext>
            </a:extLst>
          </p:cNvPr>
          <p:cNvSpPr txBox="1"/>
          <p:nvPr/>
        </p:nvSpPr>
        <p:spPr>
          <a:xfrm>
            <a:off x="1092327" y="-4659865"/>
            <a:ext cx="11233172" cy="3693319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Models used: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GPT: 7,13,22,175B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Llama: 405B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World Sizes: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64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128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512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1024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2048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4096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Parallelism Methods: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Tensor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Pipeline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Data Parallelism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Expert Parallelism (MoE only)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  <a:p>
            <a:r>
              <a:rPr lang="en-IL" dirty="0">
                <a:latin typeface="Assistant" pitchFamily="2" charset="-79"/>
                <a:cs typeface="Assistant" pitchFamily="2" charset="-79"/>
              </a:rPr>
              <a:t>Batch Size Parameters: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Global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Micro Batch Size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Sequence Length</a:t>
            </a: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4AE36CF9-D6E7-D74B-287B-4164E180513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5936" y="1763262"/>
            <a:ext cx="5839209" cy="3325688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745391E6-3E6B-87D7-840A-3B3BF0BC2B2E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855" y="1693690"/>
            <a:ext cx="5839209" cy="33256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996645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4F87E0-05E2-773D-E337-A4E9A689E7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1229A4F-FF77-6786-9A40-EAD369AAD67C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C16D5E53-04C6-212D-409F-5C29146F7272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0F1DB99B-E196-BEA0-ECB7-92E15080C5D8}"/>
              </a:ext>
            </a:extLst>
          </p:cNvPr>
          <p:cNvSpPr txBox="1"/>
          <p:nvPr/>
        </p:nvSpPr>
        <p:spPr>
          <a:xfrm>
            <a:off x="513834" y="495114"/>
            <a:ext cx="7119418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Link Overloading Analysis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8D1A11A-5D7A-607B-2195-011573B0FE9A}"/>
              </a:ext>
            </a:extLst>
          </p:cNvPr>
          <p:cNvSpPr txBox="1"/>
          <p:nvPr/>
        </p:nvSpPr>
        <p:spPr>
          <a:xfrm>
            <a:off x="576221" y="1265112"/>
            <a:ext cx="613269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Experiment Description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A6AB9F8F-8AA2-77EB-C905-4514020765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3FDEFD2F-926B-4606-21B3-3687B5EB88C2}"/>
              </a:ext>
            </a:extLst>
          </p:cNvPr>
          <p:cNvSpPr txBox="1"/>
          <p:nvPr/>
        </p:nvSpPr>
        <p:spPr>
          <a:xfrm>
            <a:off x="576221" y="2029644"/>
            <a:ext cx="11233172" cy="3240000"/>
          </a:xfrm>
          <a:prstGeom prst="rect">
            <a:avLst/>
          </a:prstGeom>
          <a:noFill/>
        </p:spPr>
        <p:txBody>
          <a:bodyPr wrap="square" numCol="3" rtlCol="0">
            <a:spAutoFit/>
          </a:bodyPr>
          <a:lstStyle/>
          <a:p>
            <a:r>
              <a:rPr lang="en-IL" dirty="0">
                <a:latin typeface="Assistant" pitchFamily="2" charset="-79"/>
                <a:cs typeface="Assistant" pitchFamily="2" charset="-79"/>
              </a:rPr>
              <a:t>In the following experiment, we tested how the links between GPUs behaved in terms of overloading in the </a:t>
            </a:r>
            <a:r>
              <a:rPr lang="en-IL" b="1" dirty="0">
                <a:latin typeface="Assistant" pitchFamily="2" charset="-79"/>
                <a:cs typeface="Assistant" pitchFamily="2" charset="-79"/>
              </a:rPr>
              <a:t>Fat Tree, DragonFly+ </a:t>
            </a:r>
            <a:r>
              <a:rPr lang="en-IL" dirty="0">
                <a:latin typeface="Assistant" pitchFamily="2" charset="-79"/>
                <a:cs typeface="Assistant" pitchFamily="2" charset="-79"/>
              </a:rPr>
              <a:t>and </a:t>
            </a:r>
            <a:r>
              <a:rPr lang="en-IL" b="1" dirty="0">
                <a:latin typeface="Assistant" pitchFamily="2" charset="-79"/>
                <a:cs typeface="Assistant" pitchFamily="2" charset="-79"/>
              </a:rPr>
              <a:t>HyperX</a:t>
            </a:r>
            <a:r>
              <a:rPr lang="en-IL" dirty="0">
                <a:latin typeface="Assistant" pitchFamily="2" charset="-79"/>
                <a:cs typeface="Assistant" pitchFamily="2" charset="-79"/>
              </a:rPr>
              <a:t> topologies.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switch was built with 64 ports for both down and up linking.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topology held the minimal amount of switches required for its deployment.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Each source GPU overloaded the shortest path links to its endpoint according to the transport matrix.</a:t>
            </a:r>
          </a:p>
          <a:p>
            <a:pPr marL="285750" indent="-285750">
              <a:buFontTx/>
              <a:buChar char="-"/>
            </a:pPr>
            <a:r>
              <a:rPr lang="en-IL" dirty="0">
                <a:latin typeface="Assistant" pitchFamily="2" charset="-79"/>
                <a:cs typeface="Assistant" pitchFamily="2" charset="-79"/>
              </a:rPr>
              <a:t>For multiple shortest paths, we tested both overloading the first found and spreading the load equally between links.</a:t>
            </a: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endParaRPr lang="en-IL" dirty="0">
              <a:latin typeface="Assistant" pitchFamily="2" charset="-79"/>
              <a:cs typeface="Assistant" pitchFamily="2" charset="-79"/>
            </a:endParaRPr>
          </a:p>
          <a:p>
            <a:pPr marL="285750" indent="-285750">
              <a:buFontTx/>
              <a:buChar char="-"/>
            </a:pPr>
            <a:endParaRPr lang="en-IL" dirty="0">
              <a:latin typeface="Assistant" pitchFamily="2" charset="-79"/>
              <a:cs typeface="Assistant" pitchFamily="2" charset="-79"/>
            </a:endParaRPr>
          </a:p>
        </p:txBody>
      </p:sp>
    </p:spTree>
    <p:extLst>
      <p:ext uri="{BB962C8B-B14F-4D97-AF65-F5344CB8AC3E}">
        <p14:creationId xmlns:p14="http://schemas.microsoft.com/office/powerpoint/2010/main" val="356538102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3182B4-478D-D1D2-A6A6-5F5744931E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C8A17CE5-866E-9300-A323-90EC3BFEAB0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13C8889B-B515-DA0F-B3E3-ECD294038D2E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6E93B14-53BC-3857-D5B3-CB51007B8A7C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5C75C2-897D-F888-55B6-51E358586CFF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256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8320337-AD38-43F1-9A8D-24F7B750C83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0AB2BC70-3D29-6D29-34EF-E451D56AD1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A6F1790D-CCCD-C39C-4535-96B9BD8F420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237372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2400F1E-B15B-7259-88A3-8B34A7E97C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43FA592-21EE-5BE0-89DA-3B3178CD809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B790BE5B-5B90-F044-12E1-139A1D42C533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5CF97FA5-1E15-63FD-6E69-389DF66D66C0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A305A56D-D2CA-7E3D-0CFB-9E97D0FA0238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1024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1837E6B7-FEE3-98BA-7B6E-B7FDBC500B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A71D41C6-F2E5-4EBF-A327-9CA32B91080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91A328CB-27F3-ADA3-F0E0-7351AFE643D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1EC3419A-E68C-8190-9F39-397D3EFE95B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379" y="1988918"/>
            <a:ext cx="5915872" cy="28662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5A8F1FC-041B-257F-42F9-4BFF66FF323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7464700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7989835-3FE0-E81A-7917-75B4C69BBC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1AA2647E-8AD4-2526-53DE-09DAC1008D6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ABAA9094-6B67-34F2-C87A-0CB58E97FA31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1276BDA-C560-7847-7550-B4E1925B0DF8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 err="1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MoE</a:t>
            </a: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745348E7-DE48-B305-11F3-41DCCC51A2BB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2048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CF0C4338-2E48-1CF7-DE20-E53225CF51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FFD43C52-B7B7-444E-8BDA-BE54335C6B7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E7DDD51-6252-B454-4E97-30A5FED11C4B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DE06085B-348D-6830-4699-C876FF8B18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F7C6EF91-238E-6521-684D-B1A43B60CDC6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9" y="1988918"/>
            <a:ext cx="5858251" cy="283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07356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5BDCC1-F862-3132-AD92-7999BFFDD1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3ED87FF6-6774-B886-7A39-D2FD8B3746C0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2AB54FA1-8745-F4B8-B733-CA258CD86E53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571B153-D985-2EAC-C63A-B5BC97976B89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4116DEF-3DA0-C505-4492-FCA9750AFE0A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256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107AB1F-8FC4-C9C8-130B-388283DBC64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2BC57D6-D560-C354-233D-1CB7C063AAE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546510D6-F53C-D1CC-66A3-DA05004E47F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12450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CBDE63-00F0-22A2-075E-FFA6DE079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BF7FB770-BABC-8710-CC70-06A52DC9DB84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0F2CE51A-AFD0-AB0E-CC2D-E24E90375ABA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1F5AC9-F886-3B30-0CF9-5A89B95B830E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EC58AFE-C443-7E02-95B7-A213FB52F3D4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1024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0AF68DFF-1727-1498-8419-340867967C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3811125-37C8-CBA5-225C-A223691539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A9CC00D-00FB-01F7-A04C-0FD8349488B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0182A92-B888-1B62-95A1-BF7ADED8826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38379" y="1988918"/>
            <a:ext cx="5915872" cy="286623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2A2FE1F3-47F4-8ABF-88B9-122BA431484A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6250822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50C391-05F4-3A24-324A-0BBF801A57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>
            <a:extLst>
              <a:ext uri="{FF2B5EF4-FFF2-40B4-BE49-F238E27FC236}">
                <a16:creationId xmlns:a16="http://schemas.microsoft.com/office/drawing/2014/main" id="{732ECD52-0704-1CE0-01C3-AE825EEB3F32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21277" b="43976"/>
          <a:stretch/>
        </p:blipFill>
        <p:spPr>
          <a:xfrm flipH="1">
            <a:off x="0" y="5481410"/>
            <a:ext cx="3892061" cy="1376590"/>
          </a:xfrm>
          <a:prstGeom prst="rect">
            <a:avLst/>
          </a:prstGeom>
        </p:spPr>
      </p:pic>
      <p:cxnSp>
        <p:nvCxnSpPr>
          <p:cNvPr id="4" name="Straight Connector 3">
            <a:extLst>
              <a:ext uri="{FF2B5EF4-FFF2-40B4-BE49-F238E27FC236}">
                <a16:creationId xmlns:a16="http://schemas.microsoft.com/office/drawing/2014/main" id="{FFC91766-B39F-CF9C-4DC5-A0A5EF387F99}"/>
              </a:ext>
            </a:extLst>
          </p:cNvPr>
          <p:cNvCxnSpPr>
            <a:cxnSpLocks/>
          </p:cNvCxnSpPr>
          <p:nvPr/>
        </p:nvCxnSpPr>
        <p:spPr>
          <a:xfrm>
            <a:off x="16878" y="6362885"/>
            <a:ext cx="7338646" cy="0"/>
          </a:xfrm>
          <a:prstGeom prst="line">
            <a:avLst/>
          </a:prstGeom>
          <a:ln w="12700">
            <a:solidFill>
              <a:srgbClr val="D39F10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AC5E7F9C-1146-2F7B-AD19-38A840E4D012}"/>
              </a:ext>
            </a:extLst>
          </p:cNvPr>
          <p:cNvSpPr txBox="1"/>
          <p:nvPr/>
        </p:nvSpPr>
        <p:spPr>
          <a:xfrm>
            <a:off x="513833" y="495114"/>
            <a:ext cx="10730429" cy="87568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ts val="6600"/>
              </a:lnSpc>
            </a:pPr>
            <a:r>
              <a:rPr lang="en-US" sz="4400" dirty="0">
                <a:solidFill>
                  <a:srgbClr val="002047"/>
                </a:solidFill>
                <a:latin typeface="Assistant" pitchFamily="2" charset="-79"/>
                <a:cs typeface="Assistant" pitchFamily="2" charset="-79"/>
              </a:rPr>
              <a:t>Dense Based Architecture</a:t>
            </a:r>
            <a:endParaRPr lang="en-IL" sz="4400" dirty="0">
              <a:solidFill>
                <a:srgbClr val="002047"/>
              </a:solidFill>
              <a:latin typeface="Assistant" pitchFamily="2" charset="-79"/>
              <a:cs typeface="Assistant" pitchFamily="2" charset="-79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F3CFCF2-3965-E3C3-D5AD-B6D02A3D2454}"/>
              </a:ext>
            </a:extLst>
          </p:cNvPr>
          <p:cNvSpPr txBox="1"/>
          <p:nvPr/>
        </p:nvSpPr>
        <p:spPr>
          <a:xfrm>
            <a:off x="576220" y="1265112"/>
            <a:ext cx="963009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algn="l" defTabSz="914400" eaLnBrk="1" latinLnBrk="0" hangingPunct="1"/>
            <a:r>
              <a:rPr lang="en-US" sz="2400" dirty="0">
                <a:solidFill>
                  <a:srgbClr val="D39F10"/>
                </a:solidFill>
                <a:latin typeface="Assistant" pitchFamily="2" charset="-79"/>
                <a:cs typeface="Assistant" pitchFamily="2" charset="-79"/>
              </a:rPr>
              <a:t>World Size: 2048</a:t>
            </a:r>
            <a:endParaRPr lang="en-IL" sz="2400" dirty="0">
              <a:solidFill>
                <a:srgbClr val="D39F10"/>
              </a:solidFill>
              <a:latin typeface="Assistant" pitchFamily="2" charset="-79"/>
              <a:cs typeface="Assistant" pitchFamily="2" charset="-79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83DA0592-B9A5-34F6-6A98-3DF2848960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52505" y="6169705"/>
            <a:ext cx="4056888" cy="304267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262FA35-5BF8-4C5A-5D52-6E0337E99A1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6000" y="1988918"/>
            <a:ext cx="5858251" cy="2866246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2BBC2569-EEC3-31F4-D675-61986C33720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20871" y="1988918"/>
            <a:ext cx="5779654" cy="2866247"/>
          </a:xfrm>
          <a:prstGeom prst="rect">
            <a:avLst/>
          </a:prstGeom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3A66343-5087-978B-E102-826C42E02B27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749" y="1988918"/>
            <a:ext cx="5762776" cy="2832199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6369192E-242C-06E2-E1B7-1EA1FD7DE98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95999" y="1988918"/>
            <a:ext cx="5858251" cy="28383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7661894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221</TotalTime>
  <Words>394</Words>
  <Application>Microsoft Macintosh PowerPoint</Application>
  <PresentationFormat>Widescreen</PresentationFormat>
  <Paragraphs>139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8" baseType="lpstr">
      <vt:lpstr>Arial</vt:lpstr>
      <vt:lpstr>Assistant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Linoy Gal</dc:creator>
  <cp:lastModifiedBy>Eden Avidan</cp:lastModifiedBy>
  <cp:revision>9</cp:revision>
  <dcterms:created xsi:type="dcterms:W3CDTF">2020-12-22T23:28:39Z</dcterms:created>
  <dcterms:modified xsi:type="dcterms:W3CDTF">2026-03-02T14:19:48Z</dcterms:modified>
</cp:coreProperties>
</file>